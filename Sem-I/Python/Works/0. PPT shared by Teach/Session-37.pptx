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97" r:id="rId2"/>
    <p:sldId id="817" r:id="rId3"/>
    <p:sldId id="839" r:id="rId4"/>
    <p:sldId id="848" r:id="rId5"/>
    <p:sldId id="889" r:id="rId6"/>
    <p:sldId id="862" r:id="rId7"/>
    <p:sldId id="890" r:id="rId8"/>
    <p:sldId id="891" r:id="rId9"/>
    <p:sldId id="892" r:id="rId10"/>
    <p:sldId id="875" r:id="rId11"/>
    <p:sldId id="893" r:id="rId12"/>
    <p:sldId id="868" r:id="rId13"/>
    <p:sldId id="895" r:id="rId14"/>
    <p:sldId id="894" r:id="rId15"/>
    <p:sldId id="896" r:id="rId16"/>
    <p:sldId id="897" r:id="rId17"/>
    <p:sldId id="836" r:id="rId18"/>
    <p:sldId id="837" r:id="rId19"/>
    <p:sldId id="83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 Kremer" initials="RK" lastIdx="1" clrIdx="0"/>
  <p:cmAuthor id="2" name="James Tam" initials="J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2E5292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7D639A-6BE7-C861-5FFC-5A78D3CB61FB}" v="7" dt="2025-08-07T09:16:35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9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49edf8e8-7ce8-44bc-8ba6-5e538ffde482::" providerId="AD" clId="Web-{9F7D639A-6BE7-C861-5FFC-5A78D3CB61FB}"/>
    <pc:docChg chg="modSld">
      <pc:chgData name="Guest User" userId="S::urn:spo:tenantanon#49edf8e8-7ce8-44bc-8ba6-5e538ffde482::" providerId="AD" clId="Web-{9F7D639A-6BE7-C861-5FFC-5A78D3CB61FB}" dt="2025-08-07T09:16:18.108" v="2" actId="20577"/>
      <pc:docMkLst>
        <pc:docMk/>
      </pc:docMkLst>
      <pc:sldChg chg="modSp">
        <pc:chgData name="Guest User" userId="S::urn:spo:tenantanon#49edf8e8-7ce8-44bc-8ba6-5e538ffde482::" providerId="AD" clId="Web-{9F7D639A-6BE7-C861-5FFC-5A78D3CB61FB}" dt="2025-08-07T09:16:18.108" v="2" actId="20577"/>
        <pc:sldMkLst>
          <pc:docMk/>
          <pc:sldMk cId="4142536426" sldId="497"/>
        </pc:sldMkLst>
        <pc:spChg chg="mod">
          <ac:chgData name="Guest User" userId="S::urn:spo:tenantanon#49edf8e8-7ce8-44bc-8ba6-5e538ffde482::" providerId="AD" clId="Web-{9F7D639A-6BE7-C861-5FFC-5A78D3CB61FB}" dt="2025-08-07T09:16:18.108" v="2" actId="20577"/>
          <ac:spMkLst>
            <pc:docMk/>
            <pc:sldMk cId="4142536426" sldId="497"/>
            <ac:spMk id="6" creationId="{5BBDD341-9065-6500-56A4-3D760AE6D8B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DEE37B-FEFB-42CF-9F64-07856C703838}" type="doc">
      <dgm:prSet loTypeId="urn:microsoft.com/office/officeart/2005/8/layout/pyramid2" loCatId="list" qsTypeId="urn:microsoft.com/office/officeart/2005/8/quickstyle/3d3" qsCatId="3D" csTypeId="urn:microsoft.com/office/officeart/2005/8/colors/accent1_4" csCatId="accent1" phldr="1"/>
      <dgm:spPr/>
    </dgm:pt>
    <dgm:pt modelId="{51D0CC43-6FBB-4049-9A37-CDCE32A5712D}">
      <dgm:prSet phldrT="[Text]" custT="1"/>
      <dgm:spPr/>
      <dgm:t>
        <a:bodyPr/>
        <a:lstStyle/>
        <a:p>
          <a:pPr algn="l">
            <a:buFont typeface="Wingdings" panose="05000000000000000000" pitchFamily="2" charset="2"/>
            <a:buChar char="q"/>
          </a:pPr>
          <a:r>
            <a:rPr lang="en-US" sz="2400" b="1">
              <a:solidFill>
                <a:schemeClr val="tx1"/>
              </a:solidFill>
              <a:latin typeface="Consolas" panose="020B0609020204030204" pitchFamily="49" charset="0"/>
            </a:rPr>
            <a:t>Understand file and directory handling using pathlib</a:t>
          </a:r>
          <a:endParaRPr lang="en-IN" sz="2400" b="1" dirty="0">
            <a:solidFill>
              <a:schemeClr val="tx1"/>
            </a:solidFill>
            <a:latin typeface="Consolas" panose="020B0609020204030204" pitchFamily="49" charset="0"/>
          </a:endParaRPr>
        </a:p>
      </dgm:t>
    </dgm:pt>
    <dgm:pt modelId="{1C6A53F2-1F02-4C20-A449-92F31D4C6B8A}" type="parTrans" cxnId="{B8AFE66D-4AEA-41D7-B717-C1A0CDDE479D}">
      <dgm:prSet/>
      <dgm:spPr/>
      <dgm:t>
        <a:bodyPr/>
        <a:lstStyle/>
        <a:p>
          <a:endParaRPr lang="en-IN"/>
        </a:p>
      </dgm:t>
    </dgm:pt>
    <dgm:pt modelId="{A17C52CC-3EAE-4E81-BCE5-02E7642B4426}" type="sibTrans" cxnId="{B8AFE66D-4AEA-41D7-B717-C1A0CDDE479D}">
      <dgm:prSet/>
      <dgm:spPr/>
      <dgm:t>
        <a:bodyPr/>
        <a:lstStyle/>
        <a:p>
          <a:endParaRPr lang="en-IN"/>
        </a:p>
      </dgm:t>
    </dgm:pt>
    <dgm:pt modelId="{77624CA5-E2BF-463D-BF79-AF8945E30416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b="1" dirty="0">
              <a:solidFill>
                <a:schemeClr val="tx1"/>
              </a:solidFill>
            </a:rPr>
            <a:t>Work with JSON format using </a:t>
          </a:r>
          <a:r>
            <a:rPr lang="en-US" sz="2400" b="1" dirty="0" err="1">
              <a:solidFill>
                <a:schemeClr val="tx1"/>
              </a:solidFill>
            </a:rPr>
            <a:t>json</a:t>
          </a:r>
          <a:r>
            <a:rPr lang="en-US" sz="2400" b="1" dirty="0">
              <a:solidFill>
                <a:schemeClr val="tx1"/>
              </a:solidFill>
            </a:rPr>
            <a:t> module</a:t>
          </a:r>
        </a:p>
      </dgm:t>
    </dgm:pt>
    <dgm:pt modelId="{7E605E65-6028-4725-B894-CC403B39DC16}" type="sibTrans" cxnId="{4FBFE528-8436-4834-A7EC-703A9ADABB35}">
      <dgm:prSet/>
      <dgm:spPr/>
      <dgm:t>
        <a:bodyPr/>
        <a:lstStyle/>
        <a:p>
          <a:endParaRPr lang="en-IN"/>
        </a:p>
      </dgm:t>
    </dgm:pt>
    <dgm:pt modelId="{1FCF4DAC-40D8-4B99-9A72-97A31B0B34C2}" type="parTrans" cxnId="{4FBFE528-8436-4834-A7EC-703A9ADABB35}">
      <dgm:prSet/>
      <dgm:spPr/>
      <dgm:t>
        <a:bodyPr/>
        <a:lstStyle/>
        <a:p>
          <a:endParaRPr lang="en-IN"/>
        </a:p>
      </dgm:t>
    </dgm:pt>
    <dgm:pt modelId="{048B6EF6-633B-40E3-9DD6-D4FF4AA6C0AD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b="1" dirty="0">
              <a:solidFill>
                <a:schemeClr val="tx1"/>
              </a:solidFill>
            </a:rPr>
            <a:t>Handle tabular data using the csv module</a:t>
          </a:r>
          <a:endParaRPr lang="en-IN" sz="2400" b="1" dirty="0">
            <a:solidFill>
              <a:schemeClr val="tx1"/>
            </a:solidFill>
          </a:endParaRPr>
        </a:p>
      </dgm:t>
    </dgm:pt>
    <dgm:pt modelId="{5ECEFE12-3CF2-480F-BEC6-5A5AE552EEE9}" type="sibTrans" cxnId="{2A04E9F6-48B2-4E8B-B43D-76EF7C3EC83A}">
      <dgm:prSet/>
      <dgm:spPr/>
      <dgm:t>
        <a:bodyPr/>
        <a:lstStyle/>
        <a:p>
          <a:endParaRPr lang="en-IN"/>
        </a:p>
      </dgm:t>
    </dgm:pt>
    <dgm:pt modelId="{A44B218B-17D6-43C1-8CBD-634251D76F88}" type="parTrans" cxnId="{2A04E9F6-48B2-4E8B-B43D-76EF7C3EC83A}">
      <dgm:prSet/>
      <dgm:spPr/>
      <dgm:t>
        <a:bodyPr/>
        <a:lstStyle/>
        <a:p>
          <a:endParaRPr lang="en-IN"/>
        </a:p>
      </dgm:t>
    </dgm:pt>
    <dgm:pt modelId="{6C5ACCA4-37EA-4229-84B2-C943642F80A9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b="1" dirty="0">
              <a:solidFill>
                <a:schemeClr val="tx1"/>
              </a:solidFill>
            </a:rPr>
            <a:t>Learn how to read and write text files</a:t>
          </a:r>
          <a:endParaRPr lang="en-US" sz="2000" b="1" dirty="0">
            <a:solidFill>
              <a:schemeClr val="tx1"/>
            </a:solidFill>
            <a:highlight>
              <a:srgbClr val="FFFF00"/>
            </a:highlight>
            <a:latin typeface="Consolas" panose="020B0609020204030204" pitchFamily="49" charset="0"/>
          </a:endParaRPr>
        </a:p>
      </dgm:t>
    </dgm:pt>
    <dgm:pt modelId="{0B358D62-FC31-4CBE-AEC1-8D19CB7C5420}" type="sibTrans" cxnId="{F7AFF633-8595-4F10-B621-D7121AB6634D}">
      <dgm:prSet/>
      <dgm:spPr/>
      <dgm:t>
        <a:bodyPr/>
        <a:lstStyle/>
        <a:p>
          <a:endParaRPr lang="en-IN"/>
        </a:p>
      </dgm:t>
    </dgm:pt>
    <dgm:pt modelId="{0672A83B-4274-49A6-908A-3650C07AB49C}" type="parTrans" cxnId="{F7AFF633-8595-4F10-B621-D7121AB6634D}">
      <dgm:prSet/>
      <dgm:spPr/>
      <dgm:t>
        <a:bodyPr/>
        <a:lstStyle/>
        <a:p>
          <a:endParaRPr lang="en-IN"/>
        </a:p>
      </dgm:t>
    </dgm:pt>
    <dgm:pt modelId="{1F0CB5DE-781C-4AEB-80A2-E6944B5F2113}" type="pres">
      <dgm:prSet presAssocID="{AFDEE37B-FEFB-42CF-9F64-07856C703838}" presName="compositeShape" presStyleCnt="0">
        <dgm:presLayoutVars>
          <dgm:dir/>
          <dgm:resizeHandles/>
        </dgm:presLayoutVars>
      </dgm:prSet>
      <dgm:spPr/>
    </dgm:pt>
    <dgm:pt modelId="{98625B0D-6F30-461E-8BF5-EF67A5B17241}" type="pres">
      <dgm:prSet presAssocID="{AFDEE37B-FEFB-42CF-9F64-07856C703838}" presName="pyramid" presStyleLbl="node1" presStyleIdx="0" presStyleCnt="1" custLinFactNeighborX="-46688" custLinFactNeighborY="358"/>
      <dgm:spPr/>
    </dgm:pt>
    <dgm:pt modelId="{7D4B5D4F-7C6A-40BE-BDD0-4BB436B3E26B}" type="pres">
      <dgm:prSet presAssocID="{AFDEE37B-FEFB-42CF-9F64-07856C703838}" presName="theList" presStyleCnt="0"/>
      <dgm:spPr/>
    </dgm:pt>
    <dgm:pt modelId="{DE5D94E2-1015-4593-AE7B-019ADBE816D6}" type="pres">
      <dgm:prSet presAssocID="{51D0CC43-6FBB-4049-9A37-CDCE32A5712D}" presName="aNode" presStyleLbl="fgAcc1" presStyleIdx="0" presStyleCnt="4" custScaleX="315703" custLinFactY="49967" custLinFactNeighborX="43690" custLinFactNeighborY="100000">
        <dgm:presLayoutVars>
          <dgm:bulletEnabled val="1"/>
        </dgm:presLayoutVars>
      </dgm:prSet>
      <dgm:spPr/>
    </dgm:pt>
    <dgm:pt modelId="{106AA8FA-191F-4376-9178-E53FF1F67511}" type="pres">
      <dgm:prSet presAssocID="{51D0CC43-6FBB-4049-9A37-CDCE32A5712D}" presName="aSpace" presStyleCnt="0"/>
      <dgm:spPr/>
    </dgm:pt>
    <dgm:pt modelId="{3956319E-2CFA-4EFA-9119-72E3CC52597B}" type="pres">
      <dgm:prSet presAssocID="{6C5ACCA4-37EA-4229-84B2-C943642F80A9}" presName="aNode" presStyleLbl="fgAcc1" presStyleIdx="1" presStyleCnt="4" custScaleX="310106" custLinFactY="57878" custLinFactNeighborX="40891" custLinFactNeighborY="100000">
        <dgm:presLayoutVars>
          <dgm:bulletEnabled val="1"/>
        </dgm:presLayoutVars>
      </dgm:prSet>
      <dgm:spPr/>
    </dgm:pt>
    <dgm:pt modelId="{62977C8F-7B65-414D-A324-B7A63A80D1B6}" type="pres">
      <dgm:prSet presAssocID="{6C5ACCA4-37EA-4229-84B2-C943642F80A9}" presName="aSpace" presStyleCnt="0"/>
      <dgm:spPr/>
    </dgm:pt>
    <dgm:pt modelId="{62088408-B896-4F12-B4F7-09DBA30F39A4}" type="pres">
      <dgm:prSet presAssocID="{77624CA5-E2BF-463D-BF79-AF8945E30416}" presName="aNode" presStyleLbl="fgAcc1" presStyleIdx="2" presStyleCnt="4" custScaleX="307676" custLinFactY="62024" custLinFactNeighborX="39676" custLinFactNeighborY="100000">
        <dgm:presLayoutVars>
          <dgm:bulletEnabled val="1"/>
        </dgm:presLayoutVars>
      </dgm:prSet>
      <dgm:spPr/>
    </dgm:pt>
    <dgm:pt modelId="{84C42887-3798-41D2-B940-FAA5D34BEDB0}" type="pres">
      <dgm:prSet presAssocID="{77624CA5-E2BF-463D-BF79-AF8945E30416}" presName="aSpace" presStyleCnt="0"/>
      <dgm:spPr/>
    </dgm:pt>
    <dgm:pt modelId="{DDCB30FF-7353-4341-A320-713F8B8DA5EB}" type="pres">
      <dgm:prSet presAssocID="{048B6EF6-633B-40E3-9DD6-D4FF4AA6C0AD}" presName="aNode" presStyleLbl="fgAcc1" presStyleIdx="3" presStyleCnt="4" custScaleX="306576" custLinFactY="60347" custLinFactNeighborX="39126" custLinFactNeighborY="100000">
        <dgm:presLayoutVars>
          <dgm:bulletEnabled val="1"/>
        </dgm:presLayoutVars>
      </dgm:prSet>
      <dgm:spPr/>
    </dgm:pt>
    <dgm:pt modelId="{94C60FEA-CA51-4302-8A14-C8A031B10C57}" type="pres">
      <dgm:prSet presAssocID="{048B6EF6-633B-40E3-9DD6-D4FF4AA6C0AD}" presName="aSpace" presStyleCnt="0"/>
      <dgm:spPr/>
    </dgm:pt>
  </dgm:ptLst>
  <dgm:cxnLst>
    <dgm:cxn modelId="{4FBFE528-8436-4834-A7EC-703A9ADABB35}" srcId="{AFDEE37B-FEFB-42CF-9F64-07856C703838}" destId="{77624CA5-E2BF-463D-BF79-AF8945E30416}" srcOrd="2" destOrd="0" parTransId="{1FCF4DAC-40D8-4B99-9A72-97A31B0B34C2}" sibTransId="{7E605E65-6028-4725-B894-CC403B39DC16}"/>
    <dgm:cxn modelId="{F7AFF633-8595-4F10-B621-D7121AB6634D}" srcId="{AFDEE37B-FEFB-42CF-9F64-07856C703838}" destId="{6C5ACCA4-37EA-4229-84B2-C943642F80A9}" srcOrd="1" destOrd="0" parTransId="{0672A83B-4274-49A6-908A-3650C07AB49C}" sibTransId="{0B358D62-FC31-4CBE-AEC1-8D19CB7C5420}"/>
    <dgm:cxn modelId="{B8AFE66D-4AEA-41D7-B717-C1A0CDDE479D}" srcId="{AFDEE37B-FEFB-42CF-9F64-07856C703838}" destId="{51D0CC43-6FBB-4049-9A37-CDCE32A5712D}" srcOrd="0" destOrd="0" parTransId="{1C6A53F2-1F02-4C20-A449-92F31D4C6B8A}" sibTransId="{A17C52CC-3EAE-4E81-BCE5-02E7642B4426}"/>
    <dgm:cxn modelId="{3A1EAB75-2C5B-4A60-A742-F86268C4F348}" type="presOf" srcId="{AFDEE37B-FEFB-42CF-9F64-07856C703838}" destId="{1F0CB5DE-781C-4AEB-80A2-E6944B5F2113}" srcOrd="0" destOrd="0" presId="urn:microsoft.com/office/officeart/2005/8/layout/pyramid2"/>
    <dgm:cxn modelId="{21A3DA56-E694-48F2-B035-6AD018E2FF7C}" type="presOf" srcId="{048B6EF6-633B-40E3-9DD6-D4FF4AA6C0AD}" destId="{DDCB30FF-7353-4341-A320-713F8B8DA5EB}" srcOrd="0" destOrd="0" presId="urn:microsoft.com/office/officeart/2005/8/layout/pyramid2"/>
    <dgm:cxn modelId="{46441A7E-939B-4B44-BEE9-D628C0810291}" type="presOf" srcId="{6C5ACCA4-37EA-4229-84B2-C943642F80A9}" destId="{3956319E-2CFA-4EFA-9119-72E3CC52597B}" srcOrd="0" destOrd="0" presId="urn:microsoft.com/office/officeart/2005/8/layout/pyramid2"/>
    <dgm:cxn modelId="{16CA087F-1FBA-417B-8925-CAC2C4172D51}" type="presOf" srcId="{77624CA5-E2BF-463D-BF79-AF8945E30416}" destId="{62088408-B896-4F12-B4F7-09DBA30F39A4}" srcOrd="0" destOrd="0" presId="urn:microsoft.com/office/officeart/2005/8/layout/pyramid2"/>
    <dgm:cxn modelId="{CE648EEF-0DBC-4366-9934-4B49F211B335}" type="presOf" srcId="{51D0CC43-6FBB-4049-9A37-CDCE32A5712D}" destId="{DE5D94E2-1015-4593-AE7B-019ADBE816D6}" srcOrd="0" destOrd="0" presId="urn:microsoft.com/office/officeart/2005/8/layout/pyramid2"/>
    <dgm:cxn modelId="{2A04E9F6-48B2-4E8B-B43D-76EF7C3EC83A}" srcId="{AFDEE37B-FEFB-42CF-9F64-07856C703838}" destId="{048B6EF6-633B-40E3-9DD6-D4FF4AA6C0AD}" srcOrd="3" destOrd="0" parTransId="{A44B218B-17D6-43C1-8CBD-634251D76F88}" sibTransId="{5ECEFE12-3CF2-480F-BEC6-5A5AE552EEE9}"/>
    <dgm:cxn modelId="{8B51BF98-9152-4C42-98DE-1333E697FDB8}" type="presParOf" srcId="{1F0CB5DE-781C-4AEB-80A2-E6944B5F2113}" destId="{98625B0D-6F30-461E-8BF5-EF67A5B17241}" srcOrd="0" destOrd="0" presId="urn:microsoft.com/office/officeart/2005/8/layout/pyramid2"/>
    <dgm:cxn modelId="{282B6A10-75D1-4818-969D-02FE913B1050}" type="presParOf" srcId="{1F0CB5DE-781C-4AEB-80A2-E6944B5F2113}" destId="{7D4B5D4F-7C6A-40BE-BDD0-4BB436B3E26B}" srcOrd="1" destOrd="0" presId="urn:microsoft.com/office/officeart/2005/8/layout/pyramid2"/>
    <dgm:cxn modelId="{44D26677-4524-4149-B2C0-730D18D797EB}" type="presParOf" srcId="{7D4B5D4F-7C6A-40BE-BDD0-4BB436B3E26B}" destId="{DE5D94E2-1015-4593-AE7B-019ADBE816D6}" srcOrd="0" destOrd="0" presId="urn:microsoft.com/office/officeart/2005/8/layout/pyramid2"/>
    <dgm:cxn modelId="{FF2A328A-B0CD-4CD1-A417-7C27ADE376A4}" type="presParOf" srcId="{7D4B5D4F-7C6A-40BE-BDD0-4BB436B3E26B}" destId="{106AA8FA-191F-4376-9178-E53FF1F67511}" srcOrd="1" destOrd="0" presId="urn:microsoft.com/office/officeart/2005/8/layout/pyramid2"/>
    <dgm:cxn modelId="{37A0FA3D-17B1-4D29-92DA-E4BD64766634}" type="presParOf" srcId="{7D4B5D4F-7C6A-40BE-BDD0-4BB436B3E26B}" destId="{3956319E-2CFA-4EFA-9119-72E3CC52597B}" srcOrd="2" destOrd="0" presId="urn:microsoft.com/office/officeart/2005/8/layout/pyramid2"/>
    <dgm:cxn modelId="{07824304-738C-4D6A-86FD-88554514684F}" type="presParOf" srcId="{7D4B5D4F-7C6A-40BE-BDD0-4BB436B3E26B}" destId="{62977C8F-7B65-414D-A324-B7A63A80D1B6}" srcOrd="3" destOrd="0" presId="urn:microsoft.com/office/officeart/2005/8/layout/pyramid2"/>
    <dgm:cxn modelId="{01B44F10-9DDF-4933-AE98-E04FAD723F5F}" type="presParOf" srcId="{7D4B5D4F-7C6A-40BE-BDD0-4BB436B3E26B}" destId="{62088408-B896-4F12-B4F7-09DBA30F39A4}" srcOrd="4" destOrd="0" presId="urn:microsoft.com/office/officeart/2005/8/layout/pyramid2"/>
    <dgm:cxn modelId="{B18D3D4F-56AC-4C47-8DD6-B8CC3BB96EAB}" type="presParOf" srcId="{7D4B5D4F-7C6A-40BE-BDD0-4BB436B3E26B}" destId="{84C42887-3798-41D2-B940-FAA5D34BEDB0}" srcOrd="5" destOrd="0" presId="urn:microsoft.com/office/officeart/2005/8/layout/pyramid2"/>
    <dgm:cxn modelId="{3122C7FE-1EDA-4D7F-B854-EE6E7B2BF4D5}" type="presParOf" srcId="{7D4B5D4F-7C6A-40BE-BDD0-4BB436B3E26B}" destId="{DDCB30FF-7353-4341-A320-713F8B8DA5EB}" srcOrd="6" destOrd="0" presId="urn:microsoft.com/office/officeart/2005/8/layout/pyramid2"/>
    <dgm:cxn modelId="{7A3657F5-27C6-40C6-B7E9-7295ACD48A5A}" type="presParOf" srcId="{7D4B5D4F-7C6A-40BE-BDD0-4BB436B3E26B}" destId="{94C60FEA-CA51-4302-8A14-C8A031B10C57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25B0D-6F30-461E-8BF5-EF67A5B17241}">
      <dsp:nvSpPr>
        <dsp:cNvPr id="0" name=""/>
        <dsp:cNvSpPr/>
      </dsp:nvSpPr>
      <dsp:spPr>
        <a:xfrm>
          <a:off x="435384" y="0"/>
          <a:ext cx="4187104" cy="4187104"/>
        </a:xfrm>
        <a:prstGeom prst="triangl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5D94E2-1015-4593-AE7B-019ADBE816D6}">
      <dsp:nvSpPr>
        <dsp:cNvPr id="0" name=""/>
        <dsp:cNvSpPr/>
      </dsp:nvSpPr>
      <dsp:spPr>
        <a:xfrm>
          <a:off x="2737581" y="883993"/>
          <a:ext cx="8592228" cy="7441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400" b="1" kern="1200">
              <a:solidFill>
                <a:schemeClr val="tx1"/>
              </a:solidFill>
              <a:latin typeface="Consolas" panose="020B0609020204030204" pitchFamily="49" charset="0"/>
            </a:rPr>
            <a:t>Understand file and directory handling using pathlib</a:t>
          </a:r>
          <a:endParaRPr lang="en-IN" sz="2400" b="1" kern="1200" dirty="0">
            <a:solidFill>
              <a:schemeClr val="tx1"/>
            </a:solidFill>
            <a:latin typeface="Consolas" panose="020B0609020204030204" pitchFamily="49" charset="0"/>
          </a:endParaRPr>
        </a:p>
      </dsp:txBody>
      <dsp:txXfrm>
        <a:off x="2773909" y="920321"/>
        <a:ext cx="8519572" cy="671536"/>
      </dsp:txXfrm>
    </dsp:sp>
    <dsp:sp modelId="{3956319E-2CFA-4EFA-9119-72E3CC52597B}">
      <dsp:nvSpPr>
        <dsp:cNvPr id="0" name=""/>
        <dsp:cNvSpPr/>
      </dsp:nvSpPr>
      <dsp:spPr>
        <a:xfrm>
          <a:off x="2737567" y="1780083"/>
          <a:ext cx="8439899" cy="7441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kern="1200" dirty="0">
              <a:solidFill>
                <a:schemeClr val="tx1"/>
              </a:solidFill>
            </a:rPr>
            <a:t>Learn how to read and write text files</a:t>
          </a:r>
          <a:endParaRPr lang="en-US" sz="2000" b="1" kern="1200" dirty="0">
            <a:solidFill>
              <a:schemeClr val="tx1"/>
            </a:solidFill>
            <a:highlight>
              <a:srgbClr val="FFFF00"/>
            </a:highlight>
            <a:latin typeface="Consolas" panose="020B0609020204030204" pitchFamily="49" charset="0"/>
          </a:endParaRPr>
        </a:p>
      </dsp:txBody>
      <dsp:txXfrm>
        <a:off x="2773895" y="1816411"/>
        <a:ext cx="8367243" cy="671536"/>
      </dsp:txXfrm>
    </dsp:sp>
    <dsp:sp modelId="{62088408-B896-4F12-B4F7-09DBA30F39A4}">
      <dsp:nvSpPr>
        <dsp:cNvPr id="0" name=""/>
        <dsp:cNvSpPr/>
      </dsp:nvSpPr>
      <dsp:spPr>
        <a:xfrm>
          <a:off x="2737567" y="2648153"/>
          <a:ext cx="8373764" cy="7441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kern="1200" dirty="0">
              <a:solidFill>
                <a:schemeClr val="tx1"/>
              </a:solidFill>
            </a:rPr>
            <a:t>Work with JSON format using </a:t>
          </a:r>
          <a:r>
            <a:rPr lang="en-US" sz="2400" b="1" kern="1200" dirty="0" err="1">
              <a:solidFill>
                <a:schemeClr val="tx1"/>
              </a:solidFill>
            </a:rPr>
            <a:t>json</a:t>
          </a:r>
          <a:r>
            <a:rPr lang="en-US" sz="2400" b="1" kern="1200" dirty="0">
              <a:solidFill>
                <a:schemeClr val="tx1"/>
              </a:solidFill>
            </a:rPr>
            <a:t> module</a:t>
          </a:r>
        </a:p>
      </dsp:txBody>
      <dsp:txXfrm>
        <a:off x="2773895" y="2684481"/>
        <a:ext cx="8301108" cy="671536"/>
      </dsp:txXfrm>
    </dsp:sp>
    <dsp:sp modelId="{DDCB30FF-7353-4341-A320-713F8B8DA5EB}">
      <dsp:nvSpPr>
        <dsp:cNvPr id="0" name=""/>
        <dsp:cNvSpPr/>
      </dsp:nvSpPr>
      <dsp:spPr>
        <a:xfrm>
          <a:off x="2737567" y="3442911"/>
          <a:ext cx="8343826" cy="7441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kern="1200" dirty="0">
              <a:solidFill>
                <a:schemeClr val="tx1"/>
              </a:solidFill>
            </a:rPr>
            <a:t>Handle tabular data using the csv module</a:t>
          </a:r>
          <a:endParaRPr lang="en-IN" sz="2400" b="1" kern="1200" dirty="0">
            <a:solidFill>
              <a:schemeClr val="tx1"/>
            </a:solidFill>
          </a:endParaRPr>
        </a:p>
      </dsp:txBody>
      <dsp:txXfrm>
        <a:off x="2773895" y="3479239"/>
        <a:ext cx="8271170" cy="671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0154A1-A9DA-6C56-C637-B1C9DAD70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97FF0-CB25-7C0E-EB65-04A6AF3ED7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A3253-2B30-44E5-AE9D-BBBB2A86863F}" type="datetimeFigureOut">
              <a:rPr lang="en-IN" smtClean="0"/>
              <a:t>07-08-2025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AC244-E381-26BF-9C11-360DA43A68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A340F-87E6-44BB-4331-1BC4E94E01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CD9D5-94C5-4243-84DE-C46BAF83A25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16189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4B9BCC-A97F-4B7F-ADE8-569FDE05BB7C}" type="datetimeFigureOut">
              <a:rPr lang="en-IN" smtClean="0"/>
              <a:pPr/>
              <a:t>07-08-2025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5DEE2-D8EA-49D1-A6BC-D14C0CB49A0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77100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9992-C8DB-51C1-FBDB-7303639F20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9992-C8DB-51C1-FBDB-7303639F20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25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BD316-74E4-1E09-D3C5-7A52E9AF9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7DE9A-D916-8F54-3776-B3981AA58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57CFF-2196-A648-F3DC-5B2602CC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B761-4299-4612-806B-C20FA7670F12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E1043-43E2-63D5-E19C-FCACB5CB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D2C4E-2839-D0C4-8FA2-7DF37F5E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40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41A4-5D1F-F7E4-169D-20FBD463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1D6A-95C8-3C6B-98AC-737FBD030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53849-9DC8-982C-02EE-9809A81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CF59-2B0E-4204-85D7-4DEA9FA4A7D3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7C815-BE8E-C86D-3AF8-155C1C4E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53CF3-B09C-8DBA-C8CA-171CAEE5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49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FD42-DD17-AAA4-7AF1-47EF94D6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42E39-AF42-2E47-CCC5-3FB6BF565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A9541-EF81-2DAA-98E8-80A74502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EC39-B737-4485-B2E1-DF52634FEAA1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1994F-F463-04E9-5AC1-84798700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D659B-A6F2-3FF1-6757-7EE801C5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532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BD88-7CDF-7FD1-1AAC-412B5CC8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1198C-3BE4-BFC5-1293-D0A5126BC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6DFD5-B495-FFD1-4B12-8F7E56EF5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72E78-1D8C-865D-D8D5-3C56CB9C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D404-44CC-444E-8C8E-7CAE201AA5D1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467AD-2E3D-9AEC-092B-85BC2E89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1FC6A-D962-84AF-C8F8-636B2F68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40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46DE-71C5-5197-D106-2C84D140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BFF32-05A0-4D2C-0BF2-3D567ABB4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EFB2F-0AC0-B295-33FF-7BC6998FB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2B303-8F4D-232C-713D-352AA4B9A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E5105-6D66-2B6E-B5A9-04EF8B9FD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838AC7-57B3-0958-C016-D2D5D2A08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82A70-0E49-4DEF-813D-04290BFF7CDB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18217-233B-F308-9F94-CC0CDB3B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6681B-1985-AC21-F8A7-FE91A072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33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A367-199B-8A24-9AF3-B6976A30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B6ABD-9194-4010-1115-7DF187C6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E83F-C123-44FC-83E5-4E070B5AA455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0462F-9215-D4EB-A00D-E473EC7F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175EF-BF91-21B6-0B2A-3CC0FCFA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29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692C5D-5690-C741-2083-13EED2AEA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13A51-7633-496B-AF95-0BFF8D71727C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711EC-CDED-EE3F-A4B3-3C908AC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EFAD2-C747-45D9-6541-F5CD4F22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00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5397-CF79-A8CC-F6BB-E6E49DDC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FD460-10E4-DB69-F10A-26CED1BC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CEB5E-646B-A18E-844A-8552CED1A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BEC45-941F-B083-EFFF-AE01D478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3650F-91F6-4AE6-AA1F-7C02B2273C93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71CB0-B8DC-F1A5-1304-F4B5E5AD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F33EA-05B4-A58D-EB83-1B867FD3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58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D08D-89AA-0237-34CD-9F3FE31FC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DE3A32-54BF-7B12-DC40-AB082E929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B7580-1045-DC35-4BE3-8C080C9B5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87566-6E62-C8C6-6982-69F21E90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351A-F924-4AC6-9783-95C2B2B60F7D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B4832-FAB8-04FF-69DE-4AF74898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AE294-EAF5-B379-D857-AD4FD6CE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143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40DD-E640-0E44-2B33-9A13D7AD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886B5-DCEB-3CF8-4795-36D060B72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15CC3-2EB6-8C8D-4998-4E4599EE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DC3A-A29A-46E8-BFE3-A0CA4CB92CBF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9E370-90A3-7EAC-F7CC-5E905CC7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1207F-A849-D5DD-58ED-7CC2EE63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5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5523EE-1F6E-1CF6-4297-17D53203B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803E6-1632-54C5-6220-09C5CFEB7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D7DE3-BF2A-4A01-22CB-A0D1C080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3267-A0C9-44BB-BF75-627287EBD160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0BA0D-B1DD-EA2B-E553-1C8509FB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F9CCD-0315-DF6C-8C96-E9E01585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94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9495C-466A-1460-FE97-460BDC5D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B9EBE-F6CD-7B92-8A60-9D74D1CE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9A34-7CF2-C521-A8C4-9753D60FF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C32F4-5DC2-45DC-B3EF-C3C345AF20A9}" type="datetime1">
              <a:rPr lang="en-IN" smtClean="0"/>
              <a:t>07-08-2025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86E92-252A-E494-B7EE-49FE3296A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Deepika Sharma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E786F-89C2-F608-3BEF-01C564DE9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06746-A46E-4844-B6DE-7C0019A7DB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99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669" y="280743"/>
            <a:ext cx="6396065" cy="92087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233" y="326910"/>
            <a:ext cx="10859589" cy="593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995170" lvl="0" indent="-1995170" algn="ctr">
              <a:buSzPct val="25000"/>
            </a:pPr>
            <a:endParaRPr lang="en-US" sz="32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5170" lvl="0" indent="-1995170" algn="ctr">
              <a:buSzPct val="25000"/>
            </a:pPr>
            <a:endParaRPr lang="en-US" sz="32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5170" lvl="0" indent="-1995170" algn="ctr">
              <a:buSzPct val="25000"/>
            </a:pPr>
            <a:endParaRPr lang="en-US" sz="32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5170" lvl="0" indent="-1995170" algn="ctr">
              <a:buSzPct val="25000"/>
            </a:pPr>
            <a:r>
              <a:rPr lang="en-US" sz="3200" b="1" dirty="0"/>
              <a:t>Programming for Problem Solving using Python</a:t>
            </a:r>
            <a:r>
              <a:rPr lang="en-US" sz="3200" dirty="0"/>
              <a:t> </a:t>
            </a:r>
            <a:endParaRPr lang="en-US" sz="3200" b="1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5170" lvl="0" indent="-1995170" algn="ctr">
              <a:buSzPct val="25000"/>
            </a:pPr>
            <a:r>
              <a:rPr lang="en-US" sz="32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B.Tech. (CSE)</a:t>
            </a:r>
          </a:p>
          <a:p>
            <a:pPr marL="1995170" lvl="0" indent="-1995170" algn="ctr">
              <a:buSzPct val="25000"/>
            </a:pPr>
            <a:endParaRPr lang="en-US" sz="32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5170" lvl="0" indent="-1995170" algn="ctr">
              <a:lnSpc>
                <a:spcPct val="150000"/>
              </a:lnSpc>
              <a:buSzPct val="25000"/>
            </a:pPr>
            <a:r>
              <a:rPr lang="en-US" sz="28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Dr. Sameer Farooq </a:t>
            </a:r>
          </a:p>
          <a:p>
            <a:pPr marL="1995170" lvl="0" indent="-1995170" algn="ctr">
              <a:lnSpc>
                <a:spcPct val="150000"/>
              </a:lnSpc>
              <a:buSzPct val="25000"/>
            </a:pPr>
            <a:r>
              <a:rPr lang="en-US" sz="2000" i="1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US" i="1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995170" lvl="0" indent="-1995170" algn="ctr">
              <a:lnSpc>
                <a:spcPct val="150000"/>
              </a:lnSpc>
              <a:buSzPct val="25000"/>
            </a:pPr>
            <a:r>
              <a:rPr lang="en-US" sz="2400" i="1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(SOET)</a:t>
            </a:r>
          </a:p>
          <a:p>
            <a:pPr marL="1995170" lvl="0" indent="-1995170" algn="ctr">
              <a:lnSpc>
                <a:spcPct val="150000"/>
              </a:lnSpc>
              <a:buSzPct val="25000"/>
            </a:pPr>
            <a:r>
              <a:rPr lang="en-US" sz="28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K. R. Mangalam University</a:t>
            </a:r>
            <a:endParaRPr lang="en-US" sz="32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5170" lvl="0" indent="-1995170" algn="ctr">
              <a:lnSpc>
                <a:spcPct val="150000"/>
              </a:lnSpc>
              <a:buSzPct val="25000"/>
            </a:pPr>
            <a:r>
              <a:rPr lang="en-US" sz="2800" b="1" kern="100" dirty="0">
                <a:cs typeface="Times New Roman"/>
                <a:sym typeface="Arial"/>
              </a:rPr>
              <a:t>UNIT-III (OOP, Modules, Packaging &amp; Robust Code)</a:t>
            </a:r>
            <a:endParaRPr lang="en-IN" sz="3200" b="1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669" y="280743"/>
            <a:ext cx="6396065" cy="92087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205" y="1767311"/>
            <a:ext cx="10859589" cy="297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84250" indent="-984250" algn="ctr">
              <a:lnSpc>
                <a:spcPct val="150000"/>
              </a:lnSpc>
              <a:buSzPct val="25000"/>
            </a:pPr>
            <a:r>
              <a:rPr lang="en-IN" sz="3200" dirty="0"/>
              <a:t>📘 </a:t>
            </a:r>
            <a:r>
              <a:rPr lang="en-IN" sz="3200" b="1" dirty="0"/>
              <a:t>Unit III</a:t>
            </a:r>
          </a:p>
          <a:p>
            <a:pPr marL="984250" indent="-984250" algn="ctr">
              <a:lnSpc>
                <a:spcPct val="150000"/>
              </a:lnSpc>
              <a:buSzPct val="25000"/>
            </a:pPr>
            <a:r>
              <a:rPr lang="en-IN" sz="3200" b="1" dirty="0"/>
              <a:t> </a:t>
            </a:r>
          </a:p>
          <a:p>
            <a:pPr marL="984250" indent="-984250" algn="ctr">
              <a:lnSpc>
                <a:spcPct val="150000"/>
              </a:lnSpc>
              <a:buSzPct val="25000"/>
            </a:pPr>
            <a:r>
              <a:rPr lang="en-IN" sz="3200" b="1" dirty="0">
                <a:highlight>
                  <a:srgbClr val="FFFF00"/>
                </a:highlight>
              </a:rPr>
              <a:t>Session </a:t>
            </a:r>
            <a:r>
              <a:rPr lang="en-US" sz="3200" b="1" dirty="0">
                <a:highlight>
                  <a:srgbClr val="FFFF00"/>
                </a:highlight>
              </a:rPr>
              <a:t>37: </a:t>
            </a:r>
            <a:r>
              <a:rPr lang="en-US" sz="3200" b="1" dirty="0"/>
              <a:t>File Handling with </a:t>
            </a:r>
            <a:r>
              <a:rPr lang="en-US" sz="3200" b="1" dirty="0" err="1"/>
              <a:t>pathlib</a:t>
            </a:r>
            <a:r>
              <a:rPr lang="en-US" sz="3200" b="1" dirty="0"/>
              <a:t>, JSON, CSV</a:t>
            </a:r>
            <a:endParaRPr lang="en-IN" sz="3200" dirty="0"/>
          </a:p>
          <a:p>
            <a:pPr marL="984250" indent="-984250" algn="ctr">
              <a:lnSpc>
                <a:spcPct val="150000"/>
              </a:lnSpc>
              <a:buSzPct val="25000"/>
            </a:pPr>
            <a:endParaRPr lang="en-IN" sz="3200" b="1" dirty="0">
              <a:solidFill>
                <a:schemeClr val="accent1">
                  <a:lumMod val="50000"/>
                </a:schemeClr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177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3165-88FA-EB36-6A1A-27989753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424" y="212965"/>
            <a:ext cx="6267147" cy="702129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Objectives</a:t>
            </a:r>
            <a:endParaRPr lang="en-IN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1C4F8-7AFB-4E48-86DD-8B940885A4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8C8D611-F2A1-D94E-18CF-1F2D4B2E87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5458577"/>
              </p:ext>
            </p:extLst>
          </p:nvPr>
        </p:nvGraphicFramePr>
        <p:xfrm>
          <a:off x="251376" y="1335448"/>
          <a:ext cx="11689241" cy="4187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4469103"/>
      </p:ext>
    </p:extLst>
  </p:cSld>
  <p:clrMapOvr>
    <a:masterClrMapping/>
  </p:clrMapOvr>
  <p:transition spd="med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A4E30-0544-F44E-647A-C24B4675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50233-5D29-5DFD-51D9-B1DEF4D7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78972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Learn File Handling?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74F89C-3C8E-1571-7B1E-8BA46F6CD5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41769" y="1818575"/>
            <a:ext cx="9625938" cy="2785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cs typeface="Arial" panose="020B0604020202020204" pitchFamily="34" charset="0"/>
              </a:rPr>
              <a:t>Read and write real-world data</a:t>
            </a: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cs typeface="Arial" panose="020B0604020202020204" pitchFamily="34" charset="0"/>
              </a:rPr>
              <a:t>Save program outputs</a:t>
            </a: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cs typeface="Arial" panose="020B0604020202020204" pitchFamily="34" charset="0"/>
              </a:rPr>
              <a:t>Interact with configuration files and logs</a:t>
            </a: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cs typeface="Arial" panose="020B0604020202020204" pitchFamily="34" charset="0"/>
              </a:rPr>
              <a:t>Exchange data with other programs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FFD745-7A35-7FD2-DB47-DA4DA0E230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3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81F9-0FF6-989A-9FFA-0AD8BCA7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D19B-90D6-2866-68DA-323D1179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86" y="239486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pathlib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0E618D-3980-F9D5-E06B-D34429CC88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1151" y="1489232"/>
            <a:ext cx="9625938" cy="3154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cs typeface="Arial" panose="020B0604020202020204" pitchFamily="34" charset="0"/>
              </a:rPr>
              <a:t>Modern way to handle file system paths (PEP 428)</a:t>
            </a: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cs typeface="Arial" panose="020B0604020202020204" pitchFamily="34" charset="0"/>
              </a:rPr>
              <a:t>Object-oriented replacement for </a:t>
            </a:r>
            <a:r>
              <a:rPr lang="en-US" sz="2400" dirty="0" err="1">
                <a:cs typeface="Arial" panose="020B0604020202020204" pitchFamily="34" charset="0"/>
              </a:rPr>
              <a:t>os.path</a:t>
            </a:r>
            <a:endParaRPr lang="en-US" sz="2400" dirty="0">
              <a:cs typeface="Arial" panose="020B0604020202020204" pitchFamily="34" charset="0"/>
            </a:endParaRP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00000"/>
              </a:lnSpc>
              <a:buNone/>
            </a:pPr>
            <a:endParaRPr lang="en-US" sz="2400" b="1" dirty="0">
              <a:highlight>
                <a:srgbClr val="FFFF00"/>
              </a:highlight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from 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pathlib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 import Path</a:t>
            </a: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531813" indent="-531813" algn="just" eaLnBrk="1" hangingPunct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E5320-B5FD-E4E9-EC23-994354091C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5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24B4-F2EC-4F28-C23D-B6E40379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60A8-A968-3B4D-5921-87F50858D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330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and Checking Files with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pathlib</a:t>
            </a:r>
            <a:endParaRPr lang="en-IN" sz="3600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8CB9B97-E73A-05A8-F503-7362DAA967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7862" y="1328184"/>
            <a:ext cx="9625938" cy="3786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file = Path("example.txt")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	print(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file.exists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()) 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# Check if file exists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file.write_text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("Hello, World!") 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# Write text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	print(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file.read_text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()) 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# Read text</a:t>
            </a:r>
            <a:endParaRPr lang="en-US" sz="2400" i="1" dirty="0">
              <a:highlight>
                <a:srgbClr val="FFFF00"/>
              </a:highlight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A5225D-5358-962F-0547-152EB22AAE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57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DEAF-4CE3-261A-BB15-C0928D52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AFCF-93DC-E1B6-9A46-32FE50E2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330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 Handling with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pathlib</a:t>
            </a:r>
            <a:endParaRPr lang="en-IN" sz="3600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BC7825-0625-E946-75F1-B147B0EF59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08764" y="1637632"/>
            <a:ext cx="9625938" cy="3786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path = Path("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my_folder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")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path.mkdir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exist_ok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=True) 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  <a:cs typeface="Arial" panose="020B0604020202020204" pitchFamily="34" charset="0"/>
              </a:rPr>
              <a:t># Create directory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for p in 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path.iterdir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():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print(p.name)</a:t>
            </a:r>
            <a:endParaRPr lang="en-US" sz="2400" i="1" dirty="0">
              <a:highlight>
                <a:srgbClr val="FFFF00"/>
              </a:highlight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732B94-0D18-D4CF-D44D-DF8DDF5D94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49C6C3-005D-9A18-59E2-1DCE017BDCBD}"/>
              </a:ext>
            </a:extLst>
          </p:cNvPr>
          <p:cNvSpPr txBox="1"/>
          <p:nvPr/>
        </p:nvSpPr>
        <p:spPr>
          <a:xfrm>
            <a:off x="3405448" y="6053005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Supports path creation, traversal, deletion</a:t>
            </a:r>
          </a:p>
        </p:txBody>
      </p:sp>
    </p:spTree>
    <p:extLst>
      <p:ext uri="{BB962C8B-B14F-4D97-AF65-F5344CB8AC3E}">
        <p14:creationId xmlns:p14="http://schemas.microsoft.com/office/powerpoint/2010/main" val="152591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FD6D-EA78-7C36-0987-8EEF811D9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6BE8-17FC-BFB5-8695-485BB386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330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Text Files </a:t>
            </a:r>
            <a:r>
              <a:rPr lang="en-US" sz="36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(Simple Example)</a:t>
            </a:r>
            <a:endParaRPr lang="en-IN" sz="36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671B24-F1F6-CE1B-E4E8-02BDE1BA0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66062" y="1696920"/>
            <a:ext cx="9625938" cy="157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file = Path("greeting.txt")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file.write_text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("Hello Python!")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FD5DB1-641A-FB53-A7AE-25768DC61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3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687CF-E72A-CDBA-04A6-13E73E09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C4B5B-C851-B3C9-E619-B8BC2E70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330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Text Files</a:t>
            </a:r>
            <a:endParaRPr lang="en-IN" sz="3600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E8C37D2-81F5-2CAB-8361-FE5CF4B9DB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46964" y="1696920"/>
            <a:ext cx="9625938" cy="157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file = Path("greeting.txt")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print(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file.read_text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47603C-F0BD-430B-3C4E-A97AA572C2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6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F5F9-F0BF-8694-F6A5-7BA46304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2571-3B34-12CD-932D-644B959BD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837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JSON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E2B1FB-900D-351C-7C97-FC00AB2CB8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53836" y="2235338"/>
            <a:ext cx="8084327" cy="2785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import 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json</a:t>
            </a: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data = {"name": "Alice", "age": 25}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with open("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data.json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", "w") as f: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json.dump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(data, f)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FC80A0-1DF5-45ED-3AD1-701DA1D280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3DF327-73DD-988D-FC28-9E6B62F0B15C}"/>
              </a:ext>
            </a:extLst>
          </p:cNvPr>
          <p:cNvSpPr txBox="1"/>
          <p:nvPr/>
        </p:nvSpPr>
        <p:spPr>
          <a:xfrm>
            <a:off x="1583575" y="1379380"/>
            <a:ext cx="9173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i="1" dirty="0">
                <a:highlight>
                  <a:srgbClr val="FFFF00"/>
                </a:highlight>
              </a:rPr>
              <a:t>JSON = JavaScript Object Notation (lightweight data format)</a:t>
            </a:r>
          </a:p>
        </p:txBody>
      </p:sp>
    </p:spTree>
    <p:extLst>
      <p:ext uri="{BB962C8B-B14F-4D97-AF65-F5344CB8AC3E}">
        <p14:creationId xmlns:p14="http://schemas.microsoft.com/office/powerpoint/2010/main" val="427283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42D0-DE20-2432-6281-F088B708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EC694-97EE-F00C-B155-F766D865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837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JSON Files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2EA4FC-AA29-14C3-1998-5E10771035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69473" y="1269934"/>
            <a:ext cx="8084327" cy="2310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with open("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data.json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") as f: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loaded = 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json.load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(f)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print(loaded["name"])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2186D-F460-4130-DE03-DC1505E1B6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65320-F7F6-07EC-2092-E099BF56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2C532-F302-055A-4979-9462A9D4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269571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vs. Text File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F2952-D37F-ADF3-BDDF-B3AC68AB67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3B98A0-99D0-BC8F-83B3-2FC5938D4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33690"/>
              </p:ext>
            </p:extLst>
          </p:nvPr>
        </p:nvGraphicFramePr>
        <p:xfrm>
          <a:off x="997527" y="1549071"/>
          <a:ext cx="10515600" cy="39539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7050539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59323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5576895"/>
                    </a:ext>
                  </a:extLst>
                </a:gridCol>
              </a:tblGrid>
              <a:tr h="970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Consolas" panose="020B0609020204030204" pitchFamily="49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Consolas" panose="020B0609020204030204" pitchFamily="49" charset="0"/>
                        </a:rPr>
                        <a:t>Text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Consolas" panose="020B0609020204030204" pitchFamily="49" charset="0"/>
                        </a:rPr>
                        <a:t>JSON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093637"/>
                  </a:ext>
                </a:extLst>
              </a:tr>
              <a:tr h="970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Free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Key-value format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691544"/>
                  </a:ext>
                </a:extLst>
              </a:tr>
              <a:tr h="1043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Data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String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Objects, lists,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743058"/>
                  </a:ext>
                </a:extLst>
              </a:tr>
              <a:tr h="970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Machine Readable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70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864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FA06D-33C5-34F2-3D80-E6E2F1950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0016-DE50-5172-246E-5BB8E53A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330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CSV</a:t>
            </a:r>
            <a:endParaRPr lang="en-IN" sz="36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7E29A0E-0A3F-DB6D-5A1F-581DB27CC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85276" y="1353590"/>
            <a:ext cx="9625938" cy="4526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import csv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with open("data.csv", "w", newline="") as f: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writer = 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csv.writer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(f)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writer.writerow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(["Name", "Age"])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writer.writerow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(["Alice", 25])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AC0106-6002-9CA6-61F9-69DD97FB1B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81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CB35A-4EA6-DDC0-6F44-612F97F5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63D5-2F9C-0EA6-9605-65B0B2D6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330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CSV Files</a:t>
            </a:r>
            <a:endParaRPr lang="en-IN" sz="36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A17EDF2-134C-C5B7-AB2E-9D20758E08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85276" y="1327588"/>
            <a:ext cx="9625938" cy="378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with open("data.csv") as f: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reader = </a:t>
            </a:r>
            <a:r>
              <a:rPr lang="en-US" sz="2400" b="1" dirty="0" err="1">
                <a:latin typeface="Consolas" panose="020B0609020204030204" pitchFamily="49" charset="0"/>
                <a:cs typeface="Arial" panose="020B0604020202020204" pitchFamily="34" charset="0"/>
              </a:rPr>
              <a:t>csv.reader</a:t>
            </a: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(f)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for row in reader: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    print(row)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C865EF-8B85-3C98-9011-AF8B0401B5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4C4FD-8A78-2F02-8A5A-BF6B1AAB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BC56-AED4-1E00-EBB6-29DF1B54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269571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 vs. JSON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061F1-40CD-F209-2293-E7D8CD2F7E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1E64C0C-6C0C-6CD0-B3D3-9F349F4E7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160830"/>
              </p:ext>
            </p:extLst>
          </p:nvPr>
        </p:nvGraphicFramePr>
        <p:xfrm>
          <a:off x="997527" y="1937051"/>
          <a:ext cx="10515600" cy="29838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2422">
                  <a:extLst>
                    <a:ext uri="{9D8B030D-6E8A-4147-A177-3AD203B41FA5}">
                      <a16:colId xmlns:a16="http://schemas.microsoft.com/office/drawing/2014/main" val="705053944"/>
                    </a:ext>
                  </a:extLst>
                </a:gridCol>
                <a:gridCol w="3545378">
                  <a:extLst>
                    <a:ext uri="{9D8B030D-6E8A-4147-A177-3AD203B41FA5}">
                      <a16:colId xmlns:a16="http://schemas.microsoft.com/office/drawing/2014/main" val="3325932365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605120276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695576895"/>
                    </a:ext>
                  </a:extLst>
                </a:gridCol>
              </a:tblGrid>
              <a:tr h="970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Consolas" panose="020B0609020204030204" pitchFamily="49" charset="0"/>
                        </a:rPr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Consolas" panose="020B0609020204030204" pitchFamily="49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Consolas" panose="020B0609020204030204" pitchFamily="49" charset="0"/>
                        </a:rPr>
                        <a:t>Human-Readable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Consolas" panose="020B0609020204030204" pitchFamily="49" charset="0"/>
                        </a:rPr>
                        <a:t>Hierarchical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093637"/>
                  </a:ext>
                </a:extLst>
              </a:tr>
              <a:tr h="970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Tabular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691544"/>
                  </a:ext>
                </a:extLst>
              </a:tr>
              <a:tr h="1043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Nested structures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nsolas" panose="020B0609020204030204" pitchFamily="49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Ye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74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024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DF8F-FA40-BF1A-61AA-7D42DCF30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C303-4DC1-96BC-7749-5627A960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86" y="239486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Real-World Use Cases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AD20B3A-A467-AA0B-D587-14BC42B156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24650" y="1489232"/>
            <a:ext cx="9625938" cy="3455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31813" indent="-531813"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cs typeface="Arial" panose="020B0604020202020204" pitchFamily="34" charset="0"/>
              </a:rPr>
              <a:t>JSON for APIs and configuration files</a:t>
            </a:r>
          </a:p>
          <a:p>
            <a:pPr marL="531813" indent="-531813"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531813" indent="-531813"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cs typeface="Arial" panose="020B0604020202020204" pitchFamily="34" charset="0"/>
              </a:rPr>
              <a:t>CSV for Excel exports/imports</a:t>
            </a:r>
          </a:p>
          <a:p>
            <a:pPr marL="531813" indent="-531813"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531813" indent="-531813"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cs typeface="Arial" panose="020B0604020202020204" pitchFamily="34" charset="0"/>
              </a:rPr>
              <a:t>pathlib</a:t>
            </a:r>
            <a:r>
              <a:rPr lang="en-US" sz="2400" dirty="0">
                <a:cs typeface="Arial" panose="020B0604020202020204" pitchFamily="34" charset="0"/>
              </a:rPr>
              <a:t> for cross-platform scripting</a:t>
            </a:r>
          </a:p>
          <a:p>
            <a:pPr marL="531813" indent="-531813"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A61D65-13E9-82AF-2A36-D3DFDB13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67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1D96B-C1FA-32C2-A80F-7E2222BCE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117E6-6E80-7C93-8DA5-B473D949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10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Quiz</a:t>
            </a:r>
            <a:endParaRPr lang="en-IN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4C5849-1690-EB43-8AA9-270F1AF9FE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463980-9574-725C-0426-D0513FEAB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133873"/>
            <a:ext cx="10354533" cy="403981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Q1: How does </a:t>
            </a:r>
            <a:r>
              <a:rPr lang="en-US" sz="24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pathlib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improve file handling in Python?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Q2: What are the key differences between JSON and CSV?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Q3: Write a simple example that creates and writes a list of people to a CSV file.</a:t>
            </a:r>
          </a:p>
        </p:txBody>
      </p:sp>
    </p:spTree>
    <p:extLst>
      <p:ext uri="{BB962C8B-B14F-4D97-AF65-F5344CB8AC3E}">
        <p14:creationId xmlns:p14="http://schemas.microsoft.com/office/powerpoint/2010/main" val="1078189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AA96-8A65-0947-525D-86EC85A7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6BD2-2313-7FFD-AD17-9C76A9AE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10"/>
            <a:ext cx="10515600" cy="10102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+mn-lt"/>
              </a:rPr>
              <a:t>Recap &amp; What’s Next?</a:t>
            </a:r>
            <a:endParaRPr lang="en-IN" sz="36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FED685-33D2-1CA5-676E-EAFD9B0132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27756F-A7E2-3D85-8189-B241E6940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036" y="1413165"/>
            <a:ext cx="10681178" cy="5004260"/>
          </a:xfrm>
        </p:spPr>
        <p:txBody>
          <a:bodyPr>
            <a:normAutofit lnSpcReduction="10000"/>
          </a:bodyPr>
          <a:lstStyle/>
          <a:p>
            <a:pPr marL="449263" indent="-449263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D0D0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Today’s Takeaways: </a:t>
            </a:r>
          </a:p>
          <a:p>
            <a:pPr marL="1795463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Learned to handle files and directories using </a:t>
            </a:r>
            <a:r>
              <a:rPr lang="en-US" sz="2400" dirty="0" err="1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pathlib</a:t>
            </a:r>
            <a:endParaRPr lang="en-US" sz="24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95463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95463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Worked with structured data formats like JSON and CSV</a:t>
            </a:r>
          </a:p>
          <a:p>
            <a:pPr marL="1528763" indent="0">
              <a:lnSpc>
                <a:spcPct val="100000"/>
              </a:lnSpc>
              <a:buNone/>
            </a:pPr>
            <a:endParaRPr lang="en-US" sz="24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95463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Understood where and when to use each file type</a:t>
            </a:r>
          </a:p>
          <a:p>
            <a:pPr marL="1795463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9263" indent="-449263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D0D0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Next Session Preview: </a:t>
            </a:r>
          </a:p>
          <a:p>
            <a:pPr marL="449263" indent="-449263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b="1" dirty="0">
              <a:solidFill>
                <a:srgbClr val="0D0D0D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95463" lvl="1" indent="0">
              <a:lnSpc>
                <a:spcPct val="100000"/>
              </a:lnSpc>
              <a:buNone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about </a:t>
            </a:r>
            <a:r>
              <a:rPr lang="en-US" b="1" dirty="0">
                <a:solidFill>
                  <a:srgbClr val="0D0D0D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Database Handling with sqlite3, Exceptions, Logging</a:t>
            </a:r>
            <a:endParaRPr lang="en-US" b="1" dirty="0">
              <a:solidFill>
                <a:srgbClr val="0D0D0D"/>
              </a:solidFill>
              <a:highlight>
                <a:srgbClr val="FFFFFF"/>
              </a:highlight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567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995A-CE71-60D5-EFEE-18209D01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C1874-7F18-2CA4-F8C6-8FB7C97596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436" y="0"/>
            <a:ext cx="2146778" cy="4789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066C5C-82A4-F7B9-2A38-21290A91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581" y="3229495"/>
            <a:ext cx="6667484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onsolas" panose="020B0609020204030204" pitchFamily="49" charset="0"/>
              </a:rPr>
              <a:t>Any Question?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70D93B-E5A4-3D3E-5FDD-3783400EA06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3935" y="977468"/>
            <a:ext cx="4548188" cy="26177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6000" b="1" dirty="0">
              <a:solidFill>
                <a:srgbClr val="7030A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Thank You!</a:t>
            </a:r>
            <a:endParaRPr lang="en-US" sz="6000" b="1" dirty="0">
              <a:solidFill>
                <a:srgbClr val="7030A0"/>
              </a:solidFill>
              <a:highlight>
                <a:srgbClr val="FFFFFF"/>
              </a:highlight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562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30037</TotalTime>
  <Words>623</Words>
  <Application>Microsoft Office PowerPoint</Application>
  <PresentationFormat>Widescreen</PresentationFormat>
  <Paragraphs>136</Paragraphs>
  <Slides>19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Learning Objectives</vt:lpstr>
      <vt:lpstr>Why Learn File Handling?</vt:lpstr>
      <vt:lpstr>Introduction to pathlib</vt:lpstr>
      <vt:lpstr>Creating and Checking Files with pathlib</vt:lpstr>
      <vt:lpstr>Directory Handling with pathlib</vt:lpstr>
      <vt:lpstr>Writing Text Files (Simple Example)</vt:lpstr>
      <vt:lpstr>Reading Text Files</vt:lpstr>
      <vt:lpstr>Working with JSON</vt:lpstr>
      <vt:lpstr>Reading JSON Files</vt:lpstr>
      <vt:lpstr>JSON vs. Text File</vt:lpstr>
      <vt:lpstr>Working with CSV</vt:lpstr>
      <vt:lpstr>Reading CSV Files</vt:lpstr>
      <vt:lpstr>CSV vs. JSON</vt:lpstr>
      <vt:lpstr>Real-World Use Cases</vt:lpstr>
      <vt:lpstr>Quick Quiz</vt:lpstr>
      <vt:lpstr>Recap &amp; What’s Next?</vt:lpstr>
      <vt:lpstr>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Solanki</dc:creator>
  <cp:lastModifiedBy>sameer farooq</cp:lastModifiedBy>
  <cp:revision>748</cp:revision>
  <dcterms:created xsi:type="dcterms:W3CDTF">2024-03-25T15:20:34Z</dcterms:created>
  <dcterms:modified xsi:type="dcterms:W3CDTF">2025-08-07T09:16:45Z</dcterms:modified>
</cp:coreProperties>
</file>